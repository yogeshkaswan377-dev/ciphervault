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Sir/Ma'am. My name is Kaswan Yogesh Subhashchandra (Roll No 32). Under the guidance of Prof. Sejal Shah, my project is 'CipherVault', built under Full Stack Web Development using ASP.NET Core (Course Code: DSC-M-BCA-471P).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followed a structured 4-phase roadmap: Phase 1 MVC setup, Phase 2 Forms &amp; Validation, Phase 3 Database &amp; CRUD, and Phase 4 API &amp;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Phase 1, we initialized the ASP.NET Core 10 project, set up Identity cookie auth with unconditional SecurePolicy = Always, and built the responsive Bootstrap 5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2 covered forms, DTO separation (Create vs Update), validation attributes, and a cryptographically secure password generator using crypto.getRandomValues().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3 introduced EF Core 10 persistence, the repository pattern, Data Protection encryption with immutable purpose strings, and IDOR-safe 404 error handling.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4 delivered the REST API with JWT bearer auth, dual scheme separation, global error handling, and live HTTPS deployment on MonsterASP.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Demonstrating the live application UI: the dashboard with Chart.js analytics and the vault list featuring server-side search and category filtering.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Showing the create form with the crypto-secure generator and the details view where secrets remain masked by default until explicitly revealed by the owner.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Database inspection via SSMS confirms that plaintext secrets never touch the database. Browser DevTools confirm secure cookies and HSTS headers in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Postman test results confirming token issuance, JSON 401 on missing tokens, and 404 Not Found on cross-user IDOR access attempts.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 table of all 11 critical test cases, confirming 100% pass rate across security, CRUD, API, and deployment verifications.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Discussing technical challenges: cookie prefix issues, lockout parity, HSTS gating, key persistence on shared hosting, and DTO blank-preserve semantics.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Summarizing lessons learned: architecture discipline, immutable cryptographic purpose strings, service-layer IDOR enforcement, and dual auth complexity.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Outlining the future roadmap: MFA, automated testing, vault import/export, CI/CD pipelines, and cloud key vault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Sir/Ma'am. I am now ready for your questions and a live demonstration of CipherVault.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02920"/>
            <a:ext cx="11185855" cy="5669280"/>
          </a:xfrm>
          <a:prstGeom prst="roundRect">
            <a:avLst>
              <a:gd name="adj" fmla="val 4000"/>
            </a:avLst>
          </a:prstGeom>
          <a:solidFill>
            <a:srgbClr val="1A2333"/>
          </a:solidFill>
          <a:ln w="22225">
            <a:solidFill>
              <a:srgbClr val="5E6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804672"/>
            <a:ext cx="6858000" cy="384048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2225">
            <a:solidFill>
              <a:srgbClr val="8B95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850392"/>
            <a:ext cx="676656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50" b="1">
                <a:solidFill>
                  <a:srgbClr val="8B95F6"/>
                </a:solidFill>
                <a:latin typeface="Segoe UI"/>
              </a:defRPr>
            </a:pPr>
            <a:r>
              <a:t>FULL STACK WEB DEVELOPMENT PROJECT USING ASP.NET CORE  •  CODE: DSC-M-BCA-471P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4400" b="1">
                <a:solidFill>
                  <a:srgbClr val="F8FAFC"/>
                </a:solidFill>
                <a:latin typeface="Segoe UI"/>
              </a:defRPr>
            </a:pPr>
            <a:r>
              <a:t>CipherVault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29968"/>
            <a:ext cx="10515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Personal Encrypted Password &amp; Secure Notes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2412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80" b="0">
                <a:solidFill>
                  <a:srgbClr val="94A3B8"/>
                </a:solidFill>
                <a:latin typeface="Segoe UI"/>
              </a:defRPr>
            </a:pPr>
            <a:r>
              <a:t>A Professional Full Stack Web Application Built on ASP.NET Core 10 MVC &amp; Entity Framework Core 10, Featuring AES-Authenticated Encryption at Rest, Ownership-Scoped IDOR Protection, and JWT-Secured REST API.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337560"/>
            <a:ext cx="10545775" cy="1874519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22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10149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1">
                <a:solidFill>
                  <a:srgbClr val="10B981"/>
                </a:solidFill>
                <a:latin typeface="Segoe UI"/>
              </a:rPr>
              <a:t>Student Name &amp; Roll No: </a:t>
            </a:r>
            <a:r>
              <a:rPr sz="1150" b="0">
                <a:solidFill>
                  <a:srgbClr val="F8FAFC"/>
                </a:solidFill>
                <a:latin typeface="Segoe UI"/>
              </a:rPr>
              <a:t>Kaswan Yogesh Subhashchandra    |    Roll Number: 32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8B95F6"/>
                </a:solidFill>
                <a:latin typeface="Segoe UI"/>
              </a:rPr>
              <a:t>Course Title &amp; Code: </a:t>
            </a:r>
            <a:r>
              <a:rPr sz="1150" b="0">
                <a:solidFill>
                  <a:srgbClr val="F8FAFC"/>
                </a:solidFill>
                <a:latin typeface="Segoe UI"/>
              </a:rPr>
              <a:t>Full Stack Web Development Project using ASP.NET Core    |    DSC-M-BCA-471P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10B981"/>
                </a:solidFill>
                <a:latin typeface="Segoe UI"/>
              </a:rPr>
              <a:t>Project Guide: </a:t>
            </a:r>
            <a:r>
              <a:rPr sz="1150" b="0">
                <a:solidFill>
                  <a:srgbClr val="F8FAFC"/>
                </a:solidFill>
                <a:latin typeface="Segoe UI"/>
              </a:rPr>
              <a:t>Prof. Sejal Shah    |    Academic Year: 2026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6B6D4"/>
                </a:solidFill>
                <a:latin typeface="Segoe UI"/>
              </a:rPr>
              <a:t>Tech Stack: </a:t>
            </a:r>
            <a:r>
              <a:rPr sz="1150" b="0">
                <a:solidFill>
                  <a:srgbClr val="F8FAFC"/>
                </a:solidFill>
                <a:latin typeface="Segoe UI"/>
              </a:rPr>
              <a:t>ASP.NET Core 10 MVC  •  EF Core 10  •  SQL Server  •  ASP.NET Core Identity  •  Data Protection API (v10.0.7+)  •  Bootstrap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6263640"/>
            <a:ext cx="11185855" cy="4114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22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327648"/>
            <a:ext cx="108813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950" b="1">
                <a:solidFill>
                  <a:srgbClr val="10B981"/>
                </a:solidFill>
                <a:latin typeface="Segoe UI"/>
              </a:defRPr>
            </a:pPr>
            <a:r>
              <a:t>PROJECT ROADMAP:   [PHASE 1: MVC Setup &amp; UI]   •   [PHASE 2: Forms &amp; Validation]   •   [PHASE 3: Database &amp; CRUD]   •   [PHASE 4: API &amp; Deployment]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6437376"/>
            <a:ext cx="11185855" cy="18288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83096"/>
            <a:ext cx="96012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Full Stack Web Development Project using ASP.NET Core (DSC-M-BCA-471P)  |  Student: Kaswan Yogesh Subhashchandra (Roll: 32)  |  Guide: Prof. Sejal Shah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6483096"/>
            <a:ext cx="1627632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950" b="1">
                <a:solidFill>
                  <a:srgbClr val="8B95F6"/>
                </a:solidFill>
                <a:latin typeface="Segoe UI"/>
              </a:defRPr>
            </a:pPr>
            <a:r>
              <a:t>Slide 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hase_badge"/>
          <p:cNvSpPr/>
          <p:nvPr/>
        </p:nvSpPr>
        <p:spPr>
          <a:xfrm>
            <a:off x="502920" y="384048"/>
            <a:ext cx="2514600" cy="34747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2225">
            <a:solidFill>
              <a:srgbClr val="5E6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242316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50" b="1">
                <a:solidFill>
                  <a:srgbClr val="5E6AD2"/>
                </a:solidFill>
                <a:latin typeface="Segoe UI"/>
              </a:defRPr>
            </a:pPr>
            <a:r>
              <a:t>PROJECT ROADMAP</a:t>
            </a:r>
          </a:p>
        </p:txBody>
      </p:sp>
      <p:sp>
        <p:nvSpPr>
          <p:cNvPr id="4" name="!!slide_title"/>
          <p:cNvSpPr txBox="1"/>
          <p:nvPr/>
        </p:nvSpPr>
        <p:spPr>
          <a:xfrm>
            <a:off x="3127248" y="347472"/>
            <a:ext cx="777240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900" b="1">
                <a:solidFill>
                  <a:srgbClr val="F8FAFC"/>
                </a:solidFill>
                <a:latin typeface="Segoe UI"/>
              </a:defRPr>
            </a:pPr>
            <a:r>
              <a:t>4-Phase Full Stack Development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7248" y="713232"/>
            <a:ext cx="77724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Structured Execution Aligned with Full Stack Web Development Project using ASP.NET Core (DSC-M-BCA-471P) — Guide: Prof. Sejal Shah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" y="1097280"/>
            <a:ext cx="11237976" cy="4315968"/>
          </a:xfrm>
          <a:prstGeom prst="roundRect">
            <a:avLst>
              <a:gd name="adj" fmla="val 4000"/>
            </a:avLst>
          </a:prstGeom>
          <a:solidFill>
            <a:srgbClr val="1A2333"/>
          </a:solidFill>
          <a:ln w="22225">
            <a:solidFill>
              <a:srgbClr val="5E6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143000"/>
          <a:ext cx="11185855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286000"/>
                <a:gridCol w="4785055"/>
                <a:gridCol w="2194560"/>
              </a:tblGrid>
              <a:tr h="844905">
                <a:tc>
                  <a:txBody>
                    <a:bodyPr/>
                    <a:lstStyle/>
                    <a:p>
                      <a:pPr algn="l">
                        <a:defRPr sz="1030" b="1">
                          <a:solidFill>
                            <a:srgbClr val="8B95F6"/>
                          </a:solidFill>
                          <a:latin typeface="Segoe UI"/>
                        </a:defRPr>
                      </a:pPr>
                      <a:r>
                        <a:t>Project Phase &amp; Title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30" b="1">
                          <a:solidFill>
                            <a:srgbClr val="8B95F6"/>
                          </a:solidFill>
                          <a:latin typeface="Segoe UI"/>
                        </a:defRPr>
                      </a:pPr>
                      <a:r>
                        <a:t>Phase Objective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30" b="1">
                          <a:solidFill>
                            <a:srgbClr val="8B95F6"/>
                          </a:solidFill>
                          <a:latin typeface="Segoe UI"/>
                        </a:defRPr>
                      </a:pPr>
                      <a:r>
                        <a:t>Key Technical Implementation Tasks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30" b="1">
                          <a:solidFill>
                            <a:srgbClr val="8B95F6"/>
                          </a:solidFill>
                          <a:latin typeface="Segoe UI"/>
                        </a:defRPr>
                      </a:pPr>
                      <a:r>
                        <a:t>Completed Deliverables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844905"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PHASE 1:</a:t>
                      </a:r>
                    </a:p>
                    <a:p>
                      <a:pPr algn="l">
                        <a:defRPr sz="98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MVC Setup and UI</a:t>
                      </a:r>
                    </a:p>
                  </a:txBody>
                  <a:tcPr anchor="ctr">
                    <a:solidFill>
                      <a:srgbClr val="1A2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To configure the ASP.NET Core 10 architecture and build the responsive user interface shell.</a:t>
                      </a:r>
                    </a:p>
                  </a:txBody>
                  <a:tcPr anchor="ctr">
                    <a:solidFill>
                      <a:srgbClr val="1A2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• Project setup targeting net10.0 with EF Core 10 &amp; Identity</a:t>
                      </a:r>
                    </a:p>
                    <a:p>
                      <a:pPr algn="ctr">
                        <a:defRPr sz="98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• Program.cs with WebApplicationBuilder &amp; Cookie policy (SecurePolicy=Always)</a:t>
                      </a:r>
                    </a:p>
                    <a:p>
                      <a:pPr algn="ctr">
                        <a:defRPr sz="98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• Base layout (_Layout.cshtml) with responsive Bootstrap 5 navbar</a:t>
                      </a:r>
                    </a:p>
                    <a:p>
                      <a:pPr algn="ctr">
                        <a:defRPr sz="98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• HomeController &amp; placeholder [Authorize] DashboardController</a:t>
                      </a:r>
                    </a:p>
                  </a:txBody>
                  <a:tcPr anchor="ctr">
                    <a:solidFill>
                      <a:srgbClr val="1A2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✔ Working Authentication</a:t>
                      </a:r>
                    </a:p>
                    <a:p>
                      <a:pPr algn="ctr">
                        <a:defRPr sz="98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✔ Base Layout &amp; Navbar</a:t>
                      </a:r>
                    </a:p>
                    <a:p>
                      <a:pPr algn="ctr">
                        <a:defRPr sz="98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✔ Authorized Dashboard</a:t>
                      </a:r>
                    </a:p>
                    <a:p>
                      <a:pPr algn="ctr">
                        <a:defRPr sz="98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✔ Target net10.0 Confirmed</a:t>
                      </a:r>
                    </a:p>
                  </a:txBody>
                  <a:tcPr anchor="ctr">
                    <a:solidFill>
                      <a:srgbClr val="1A2333"/>
                    </a:solidFill>
                  </a:tcPr>
                </a:tc>
              </a:tr>
              <a:tr h="844905"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PHASE 2:</a:t>
                      </a:r>
                    </a:p>
                    <a:p>
                      <a:pPr algn="l">
                        <a:defRPr sz="98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Forms and Validation</a:t>
                      </a:r>
                    </a:p>
                  </a:txBody>
                  <a:tcPr anchor="ctr"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To implement secure user interaction forms, data validation, and cryptographic utilities.</a:t>
                      </a:r>
                    </a:p>
                  </a:txBody>
                  <a:tcPr anchor="ctr"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• VaultItem model with categories (Password, Note, API Key, Credit Card, Other)</a:t>
                      </a:r>
                    </a:p>
                    <a:p>
                      <a:pPr algn="ctr">
                        <a:defRPr sz="98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• Separate Create/Update DTOs with validation annotations &amp; custom ValidCategoryAttribute</a:t>
                      </a:r>
                    </a:p>
                    <a:p>
                      <a:pPr algn="ctr">
                        <a:defRPr sz="98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• Client-side password generator using window.crypto.getRandomValues()</a:t>
                      </a:r>
                    </a:p>
                    <a:p>
                      <a:pPr algn="ctr">
                        <a:defRPr sz="98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• Data Protection key persistence configuration (App_Data/keys)</a:t>
                      </a:r>
                    </a:p>
                  </a:txBody>
                  <a:tcPr anchor="ctr"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✔ Validated Create/Edit Forms</a:t>
                      </a:r>
                    </a:p>
                    <a:p>
                      <a:pPr algn="ctr">
                        <a:defRPr sz="98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✔ Crypto-Secure Generator</a:t>
                      </a:r>
                    </a:p>
                    <a:p>
                      <a:pPr algn="ctr">
                        <a:defRPr sz="98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✔ DTO Separation</a:t>
                      </a:r>
                    </a:p>
                    <a:p>
                      <a:pPr algn="ctr">
                        <a:defRPr sz="98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✔ Key Persistence Config</a:t>
                      </a:r>
                    </a:p>
                  </a:txBody>
                  <a:tcPr anchor="ctr">
                    <a:solidFill>
                      <a:srgbClr val="0B0F19"/>
                    </a:solidFill>
                  </a:tcPr>
                </a:tc>
              </a:tr>
              <a:tr h="844905"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PHASE 3:</a:t>
                      </a:r>
                    </a:p>
                    <a:p>
                      <a:pPr algn="l">
                        <a:defRPr sz="98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Database and CRUD</a:t>
                      </a:r>
                    </a:p>
                  </a:txBody>
                  <a:tcPr anchor="ctr">
                    <a:solidFill>
                      <a:srgbClr val="1A2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To build the database persistence layer, encrypted repository, and full CRUD lifecycle.</a:t>
                      </a:r>
                    </a:p>
                  </a:txBody>
                  <a:tcPr anchor="ctr">
                    <a:solidFill>
                      <a:srgbClr val="1A2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• ApplicationDbContext extended with DbSet&lt;VaultItem&gt; &amp; User relationship</a:t>
                      </a:r>
                    </a:p>
                    <a:p>
                      <a:pPr algn="ctr">
                        <a:defRPr sz="98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• Repository pattern implemented for VaultItem (IVaultItemRepository)</a:t>
                      </a:r>
                    </a:p>
                    <a:p>
                      <a:pPr algn="ctr">
                        <a:defRPr sz="98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• Service layer handling AES encryption via purpose strings ("CipherVault.Secret/.Notes")</a:t>
                      </a:r>
                    </a:p>
                    <a:p>
                      <a:pPr algn="ctr">
                        <a:defRPr sz="98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• IDOR protection: Ownership checks returning 404 (not 403) for non-owned items</a:t>
                      </a:r>
                    </a:p>
                  </a:txBody>
                  <a:tcPr anchor="ctr">
                    <a:solidFill>
                      <a:srgbClr val="1A2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✔ Full Encrypted CRUD</a:t>
                      </a:r>
                    </a:p>
                    <a:p>
                      <a:pPr algn="ctr">
                        <a:defRPr sz="98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✔ Service &amp; Repository Layers</a:t>
                      </a:r>
                    </a:p>
                    <a:p>
                      <a:pPr algn="ctr">
                        <a:defRPr sz="98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✔ IDOR 404 Enforcement</a:t>
                      </a:r>
                    </a:p>
                    <a:p>
                      <a:pPr algn="ctr">
                        <a:defRPr sz="98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✔ Search &amp; Category Filter</a:t>
                      </a:r>
                    </a:p>
                  </a:txBody>
                  <a:tcPr anchor="ctr">
                    <a:solidFill>
                      <a:srgbClr val="1A2333"/>
                    </a:solidFill>
                  </a:tcPr>
                </a:tc>
              </a:tr>
              <a:tr h="844908"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PHASE 4:</a:t>
                      </a:r>
                    </a:p>
                    <a:p>
                      <a:pPr algn="l">
                        <a:defRPr sz="98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API and Deployment</a:t>
                      </a:r>
                    </a:p>
                  </a:txBody>
                  <a:tcPr anchor="ctr"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To expose a secure REST API with JWT Bearer auth and deploy to live production hosting.</a:t>
                      </a:r>
                    </a:p>
                  </a:txBody>
                  <a:tcPr anchor="ctr"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• REST API controllers under /api/v1/vault with [ApiController]</a:t>
                      </a:r>
                    </a:p>
                    <a:p>
                      <a:pPr algn="ctr">
                        <a:defRPr sz="98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• Dual authentication scheme separation: Cookies for MVC, JWT for API</a:t>
                      </a:r>
                    </a:p>
                    <a:p>
                      <a:pPr algn="ctr">
                        <a:defRPr sz="98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• Global ExceptionHandlingMiddleware returning JSON 500 / HTML error pages</a:t>
                      </a:r>
                    </a:p>
                    <a:p>
                      <a:pPr algn="ctr">
                        <a:defRPr sz="98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• Live deployment on MonsterASP (ciphervault.tryasp.net) via HTTPS</a:t>
                      </a:r>
                    </a:p>
                  </a:txBody>
                  <a:tcPr anchor="ctr"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✔ REST API + JWT Bearer</a:t>
                      </a:r>
                    </a:p>
                    <a:p>
                      <a:pPr algn="ctr">
                        <a:defRPr sz="98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✔ Global Error Middleware</a:t>
                      </a:r>
                    </a:p>
                    <a:p>
                      <a:pPr algn="ctr">
                        <a:defRPr sz="98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✔ Live HTTPS Deployment</a:t>
                      </a:r>
                    </a:p>
                    <a:p>
                      <a:pPr algn="ctr">
                        <a:defRPr sz="98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✔ Postman Collection</a:t>
                      </a:r>
                    </a:p>
                  </a:txBody>
                  <a:tcPr anchor="ctr">
                    <a:solidFill>
                      <a:srgbClr val="0B0F19"/>
                    </a:solidFill>
                  </a:tcPr>
                </a:tc>
              </a:tr>
            </a:tbl>
          </a:graphicData>
        </a:graphic>
      </p:graphicFrame>
      <p:sp>
        <p:nvSpPr>
          <p:cNvPr id="8" name="!!insight_strip"/>
          <p:cNvSpPr/>
          <p:nvPr/>
        </p:nvSpPr>
        <p:spPr>
          <a:xfrm>
            <a:off x="502920" y="5532120"/>
            <a:ext cx="11185855" cy="804672"/>
          </a:xfrm>
          <a:prstGeom prst="roundRect">
            <a:avLst>
              <a:gd name="adj" fmla="val 4000"/>
            </a:avLst>
          </a:prstGeom>
          <a:solidFill>
            <a:srgbClr val="172554"/>
          </a:solidFill>
          <a:ln w="2222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05272"/>
            <a:ext cx="108356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20" b="1">
                <a:solidFill>
                  <a:srgbClr val="8B95F6"/>
                </a:solidFill>
                <a:latin typeface="Segoe UI"/>
              </a:rPr>
              <a:t>💡 MODULAR FULL STACK ARCHITECTURE:  </a:t>
            </a:r>
            <a:r>
              <a:rPr sz="1120" b="0">
                <a:solidFill>
                  <a:srgbClr val="F8FAFC"/>
                </a:solidFill>
                <a:latin typeface="Segoe UI"/>
              </a:rPr>
              <a:t>Each of the 4 phases is self-contained with strict separation between controllers, services, and repositories, ensuring clean maintainability and robust security adherence.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6437376"/>
            <a:ext cx="11185855" cy="18288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83096"/>
            <a:ext cx="96012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Full Stack Web Development Project using ASP.NET Core (DSC-M-BCA-471P)  |  Student: Kaswan Yogesh Subhashchandra (Roll: 32)  |  Guide: Prof. Sejal Shah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0" y="6483096"/>
            <a:ext cx="1627632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950" b="1">
                <a:solidFill>
                  <a:srgbClr val="8B95F6"/>
                </a:solidFill>
                <a:latin typeface="Segoe UI"/>
              </a:defRPr>
            </a:pPr>
            <a:r>
              <a:t>Slide 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hase_badge"/>
          <p:cNvSpPr/>
          <p:nvPr/>
        </p:nvSpPr>
        <p:spPr>
          <a:xfrm>
            <a:off x="502920" y="384048"/>
            <a:ext cx="2514600" cy="34747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2225">
            <a:solidFill>
              <a:srgbClr val="5E6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242316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50" b="1">
                <a:solidFill>
                  <a:srgbClr val="5E6AD2"/>
                </a:solidFill>
                <a:latin typeface="Segoe UI"/>
              </a:defRPr>
            </a:pPr>
            <a:r>
              <a:t>PHASE 1 • ARCHITECTURE</a:t>
            </a:r>
          </a:p>
        </p:txBody>
      </p:sp>
      <p:sp>
        <p:nvSpPr>
          <p:cNvPr id="4" name="!!slide_title"/>
          <p:cNvSpPr txBox="1"/>
          <p:nvPr/>
        </p:nvSpPr>
        <p:spPr>
          <a:xfrm>
            <a:off x="3127248" y="347472"/>
            <a:ext cx="777240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900" b="1">
                <a:solidFill>
                  <a:srgbClr val="F8FAFC"/>
                </a:solidFill>
                <a:latin typeface="Segoe UI"/>
              </a:defRPr>
            </a:pPr>
            <a:r>
              <a:t>Phase 1: MVC Setup, Base Layout &amp; 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7248" y="713232"/>
            <a:ext cx="77724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Objective: Configure ASP.NET Core 10 architecture and establish secure cookie authentication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3474720" cy="3200400"/>
          </a:xfrm>
          <a:prstGeom prst="roundRect">
            <a:avLst>
              <a:gd name="adj" fmla="val 8000"/>
            </a:avLst>
          </a:prstGeom>
          <a:solidFill>
            <a:srgbClr val="1A2333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3200400" cy="36576"/>
          </a:xfrm>
          <a:prstGeom prst="roundRect">
            <a:avLst>
              <a:gd name="adj" fmla="val 6000"/>
            </a:avLst>
          </a:prstGeom>
          <a:solidFill>
            <a:srgbClr val="5E6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3042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5E6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B0F19"/>
                </a:solidFill>
              </a:defRPr>
            </a:pPr>
            <a:r>
              <a:t>🛠️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2359152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Project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26079"/>
            <a:ext cx="3017520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ASP.NET Core 10 MVC targeting net10.0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EF Core 10 &amp; Identity 10.0.7 packages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WebApplicationBuilder pattern in Program.cs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Empty Services, Repositories, and DTOs directories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103120"/>
            <a:ext cx="3474720" cy="3200400"/>
          </a:xfrm>
          <a:prstGeom prst="roundRect">
            <a:avLst>
              <a:gd name="adj" fmla="val 8000"/>
            </a:avLst>
          </a:prstGeom>
          <a:solidFill>
            <a:srgbClr val="1A2333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0" y="2103120"/>
            <a:ext cx="3200400" cy="36576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23042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B0F19"/>
                </a:solidFill>
              </a:defRPr>
            </a:pPr>
            <a:r>
              <a:t>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359152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Authentication &amp; Cookies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926079"/>
            <a:ext cx="3017520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ASP.NET Core Identity cookie authentication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Cookie name: CipherVault.Auth (no __Host- prefix)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SecurePolicy = Always (locked for dev &amp; prod)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Lockout policy: 5 failed attempts → 15 min lockout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103120"/>
            <a:ext cx="3474720" cy="3200400"/>
          </a:xfrm>
          <a:prstGeom prst="roundRect">
            <a:avLst>
              <a:gd name="adj" fmla="val 8000"/>
            </a:avLst>
          </a:prstGeom>
          <a:solidFill>
            <a:srgbClr val="1A2333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83880" y="2103120"/>
            <a:ext cx="3200400" cy="36576"/>
          </a:xfrm>
          <a:prstGeom prst="roundRect">
            <a:avLst>
              <a:gd name="adj" fmla="val 6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75320" y="23042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B0F19"/>
                </a:solidFill>
              </a:defRPr>
            </a:pPr>
            <a:r>
              <a:t>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2359152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UI Layout &amp; Controllers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926079"/>
            <a:ext cx="3017520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Responsive Bootstrap 5 layout (_Layout.cshtml)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Navigation: Home, Dashboard, Vault, About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HomeController for static pages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DashboardController protected with [Authorize]</a:t>
            </a:r>
          </a:p>
        </p:txBody>
      </p:sp>
      <p:sp>
        <p:nvSpPr>
          <p:cNvPr id="21" name="!!insight_strip"/>
          <p:cNvSpPr/>
          <p:nvPr/>
        </p:nvSpPr>
        <p:spPr>
          <a:xfrm>
            <a:off x="502920" y="5532120"/>
            <a:ext cx="11185855" cy="804672"/>
          </a:xfrm>
          <a:prstGeom prst="roundRect">
            <a:avLst>
              <a:gd name="adj" fmla="val 4000"/>
            </a:avLst>
          </a:prstGeom>
          <a:solidFill>
            <a:srgbClr val="172554"/>
          </a:solidFill>
          <a:ln w="2222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605272"/>
            <a:ext cx="108356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20" b="1">
                <a:solidFill>
                  <a:srgbClr val="8B95F6"/>
                </a:solidFill>
                <a:latin typeface="Segoe UI"/>
              </a:rPr>
              <a:t>💡 PROGRAM.CS COMPLIANCE:  </a:t>
            </a:r>
            <a:r>
              <a:rPr sz="1120" b="0">
                <a:solidFill>
                  <a:srgbClr val="F8FAFC"/>
                </a:solidFill>
                <a:latin typeface="Segoe UI"/>
              </a:rPr>
              <a:t>Avoided all deprecated APIs such as WithOpenApi, IActionContextAccessor, and WebHostBuilder, using modern ASP.NET Core 10 patterns exclusively.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6437376"/>
            <a:ext cx="11185855" cy="18288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483096"/>
            <a:ext cx="96012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Full Stack Web Development Project using ASP.NET Core (DSC-M-BCA-471P)  |  Student: Kaswan Yogesh Subhashchandra (Roll: 32)  |  Guide: Prof. Sejal Shah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6483096"/>
            <a:ext cx="1627632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950" b="1">
                <a:solidFill>
                  <a:srgbClr val="8B95F6"/>
                </a:solidFill>
                <a:latin typeface="Segoe UI"/>
              </a:defRPr>
            </a:pPr>
            <a:r>
              <a:t>Slide 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hase_badge"/>
          <p:cNvSpPr/>
          <p:nvPr/>
        </p:nvSpPr>
        <p:spPr>
          <a:xfrm>
            <a:off x="502920" y="384048"/>
            <a:ext cx="2514600" cy="34747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2225">
            <a:solidFill>
              <a:srgbClr val="8B95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242316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50" b="1">
                <a:solidFill>
                  <a:srgbClr val="8B95F6"/>
                </a:solidFill>
                <a:latin typeface="Segoe UI"/>
              </a:defRPr>
            </a:pPr>
            <a:r>
              <a:t>PHASE 2 • INTERACTION</a:t>
            </a:r>
          </a:p>
        </p:txBody>
      </p:sp>
      <p:sp>
        <p:nvSpPr>
          <p:cNvPr id="4" name="!!slide_title"/>
          <p:cNvSpPr txBox="1"/>
          <p:nvPr/>
        </p:nvSpPr>
        <p:spPr>
          <a:xfrm>
            <a:off x="3127248" y="347472"/>
            <a:ext cx="777240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900" b="1">
                <a:solidFill>
                  <a:srgbClr val="F8FAFC"/>
                </a:solidFill>
                <a:latin typeface="Segoe UI"/>
              </a:defRPr>
            </a:pPr>
            <a:r>
              <a:t>Phase 2: Forms, Data Validation &amp; Password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7248" y="713232"/>
            <a:ext cx="77724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Objective: Implement secure forms, DTO separation, and client-side cryptographic utilities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3474720" cy="3200400"/>
          </a:xfrm>
          <a:prstGeom prst="roundRect">
            <a:avLst>
              <a:gd name="adj" fmla="val 8000"/>
            </a:avLst>
          </a:prstGeom>
          <a:solidFill>
            <a:srgbClr val="1A2333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3200400" cy="36576"/>
          </a:xfrm>
          <a:prstGeom prst="roundRect">
            <a:avLst>
              <a:gd name="adj" fmla="val 6000"/>
            </a:avLst>
          </a:prstGeom>
          <a:solidFill>
            <a:srgbClr val="8B9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3042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8B9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B0F19"/>
                </a:solidFill>
              </a:defRPr>
            </a:pPr>
            <a:r>
              <a:t>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2359152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DTO Design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26079"/>
            <a:ext cx="3017520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Strict separation of Create and Update DTOs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VaultItemCreateDTO: Secret required, Notes optional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VaultItemUpdateDTO: Secret &amp; Notes nullable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Blank-Preserve Rule implemented in Service layer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103120"/>
            <a:ext cx="3474720" cy="3200400"/>
          </a:xfrm>
          <a:prstGeom prst="roundRect">
            <a:avLst>
              <a:gd name="adj" fmla="val 8000"/>
            </a:avLst>
          </a:prstGeom>
          <a:solidFill>
            <a:srgbClr val="1A2333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0" y="2103120"/>
            <a:ext cx="3200400" cy="36576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23042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B0F19"/>
                </a:solidFill>
              </a:defRPr>
            </a:pPr>
            <a:r>
              <a:t>🛡️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359152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Validation &amp; Attributes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926079"/>
            <a:ext cx="3017520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Data annotations ([Required], [StringLength], [Url])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Custom ValidCategoryAttribute for allowed categories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OptionalUrlAttribute for secure URL formatting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Anti-forgery tokens enabled globally on MVC forms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103120"/>
            <a:ext cx="3474720" cy="3200400"/>
          </a:xfrm>
          <a:prstGeom prst="roundRect">
            <a:avLst>
              <a:gd name="adj" fmla="val 8000"/>
            </a:avLst>
          </a:prstGeom>
          <a:solidFill>
            <a:srgbClr val="1A2333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83880" y="2103120"/>
            <a:ext cx="3200400" cy="36576"/>
          </a:xfrm>
          <a:prstGeom prst="roundRect">
            <a:avLst>
              <a:gd name="adj" fmla="val 6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75320" y="23042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B0F19"/>
                </a:solidFill>
              </a:defRPr>
            </a:pPr>
            <a:r>
              <a:t>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2359152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Crypto-Secure Generator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926079"/>
            <a:ext cx="3017520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Client-side password generator using Web Crypto API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crypto.getRandomValues() (NOT Math.random())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Live strength meter updating dynamically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Configurable length and character sets</a:t>
            </a:r>
          </a:p>
        </p:txBody>
      </p:sp>
      <p:sp>
        <p:nvSpPr>
          <p:cNvPr id="21" name="!!insight_strip"/>
          <p:cNvSpPr/>
          <p:nvPr/>
        </p:nvSpPr>
        <p:spPr>
          <a:xfrm>
            <a:off x="502920" y="5532120"/>
            <a:ext cx="11185855" cy="804672"/>
          </a:xfrm>
          <a:prstGeom prst="roundRect">
            <a:avLst>
              <a:gd name="adj" fmla="val 4000"/>
            </a:avLst>
          </a:prstGeom>
          <a:solidFill>
            <a:srgbClr val="172554"/>
          </a:solidFill>
          <a:ln w="2222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605272"/>
            <a:ext cx="108356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20" b="1">
                <a:solidFill>
                  <a:srgbClr val="8B95F6"/>
                </a:solidFill>
                <a:latin typeface="Segoe UI"/>
              </a:rPr>
              <a:t>💡 BLANK-PRESERVE SEMANTICS:  </a:t>
            </a:r>
            <a:r>
              <a:rPr sz="1120" b="0">
                <a:solidFill>
                  <a:srgbClr val="F8FAFC"/>
                </a:solidFill>
                <a:latin typeface="Segoe UI"/>
              </a:rPr>
              <a:t>The DTO design ensures that submitting an update with a blank secret preserves the existing encrypted database value without accidental overwrites.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6437376"/>
            <a:ext cx="11185855" cy="18288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483096"/>
            <a:ext cx="96012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Full Stack Web Development Project using ASP.NET Core (DSC-M-BCA-471P)  |  Student: Kaswan Yogesh Subhashchandra (Roll: 32)  |  Guide: Prof. Sejal Shah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6483096"/>
            <a:ext cx="1627632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950" b="1">
                <a:solidFill>
                  <a:srgbClr val="8B95F6"/>
                </a:solidFill>
                <a:latin typeface="Segoe UI"/>
              </a:defRPr>
            </a:pPr>
            <a:r>
              <a:t>Slide 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hase_badge"/>
          <p:cNvSpPr/>
          <p:nvPr/>
        </p:nvSpPr>
        <p:spPr>
          <a:xfrm>
            <a:off x="502920" y="384048"/>
            <a:ext cx="2514600" cy="34747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22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242316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50" b="1">
                <a:solidFill>
                  <a:srgbClr val="10B981"/>
                </a:solidFill>
                <a:latin typeface="Segoe UI"/>
              </a:defRPr>
            </a:pPr>
            <a:r>
              <a:t>PHASE 3 • PERSISTENCE</a:t>
            </a:r>
          </a:p>
        </p:txBody>
      </p:sp>
      <p:sp>
        <p:nvSpPr>
          <p:cNvPr id="4" name="!!slide_title"/>
          <p:cNvSpPr txBox="1"/>
          <p:nvPr/>
        </p:nvSpPr>
        <p:spPr>
          <a:xfrm>
            <a:off x="3127248" y="347472"/>
            <a:ext cx="777240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900" b="1">
                <a:solidFill>
                  <a:srgbClr val="F8FAFC"/>
                </a:solidFill>
                <a:latin typeface="Segoe UI"/>
              </a:defRPr>
            </a:pPr>
            <a:r>
              <a:t>Phase 3: Database Integration &amp; Encrypted CRUD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7248" y="713232"/>
            <a:ext cx="77724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Objective: Establish EF Core persistence, repository pattern, and AES encryption at rest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3474720" cy="3200400"/>
          </a:xfrm>
          <a:prstGeom prst="roundRect">
            <a:avLst>
              <a:gd name="adj" fmla="val 8000"/>
            </a:avLst>
          </a:prstGeom>
          <a:solidFill>
            <a:srgbClr val="1A2333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3200400" cy="36576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3042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B0F19"/>
                </a:solidFill>
              </a:defRPr>
            </a:pPr>
            <a:r>
              <a:t>🗄️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2359152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EF Core &amp; Repositories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26079"/>
            <a:ext cx="3017520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ApplicationDbContext inheriting IdentityDbContext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DbSet&lt;VaultItem&gt; with User relationship (Cascade delete)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Mandatory Repository pattern for VaultItem data access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Migrations applied: InitialIdentitySchema &amp; AddVaultItems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103120"/>
            <a:ext cx="3474720" cy="3200400"/>
          </a:xfrm>
          <a:prstGeom prst="roundRect">
            <a:avLst>
              <a:gd name="adj" fmla="val 8000"/>
            </a:avLst>
          </a:prstGeom>
          <a:solidFill>
            <a:srgbClr val="1A2333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0" y="2103120"/>
            <a:ext cx="3200400" cy="36576"/>
          </a:xfrm>
          <a:prstGeom prst="roundRect">
            <a:avLst>
              <a:gd name="adj" fmla="val 6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23042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B0F19"/>
                </a:solidFill>
              </a:defRPr>
            </a:pPr>
            <a:r>
              <a:t>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359152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Data Protection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926079"/>
            <a:ext cx="3017520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IDataProtectionProvider injected into VaultItemService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Purpose strings: CipherVault.Secret &amp; CipherVault.Notes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Keys persisted to App_Data/keys (git-ignored)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Secrets encrypted before save, decrypted on reveal only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103120"/>
            <a:ext cx="3474720" cy="3200400"/>
          </a:xfrm>
          <a:prstGeom prst="roundRect">
            <a:avLst>
              <a:gd name="adj" fmla="val 8000"/>
            </a:avLst>
          </a:prstGeom>
          <a:solidFill>
            <a:srgbClr val="1A2333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83880" y="2103120"/>
            <a:ext cx="3200400" cy="36576"/>
          </a:xfrm>
          <a:prstGeom prst="roundRect">
            <a:avLst>
              <a:gd name="adj" fmla="val 6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75320" y="23042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B0F19"/>
                </a:solidFill>
              </a:defRPr>
            </a:pPr>
            <a:r>
              <a:t>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2359152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IDOR &amp; 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926079"/>
            <a:ext cx="3017520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Ownership verified in Service layer on every query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Non-owned item access returns 404 (not 403)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Prevents existence leaking across user accounts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Audit logging for Create, Update, Delete, and Reveal</a:t>
            </a:r>
          </a:p>
        </p:txBody>
      </p:sp>
      <p:sp>
        <p:nvSpPr>
          <p:cNvPr id="21" name="!!insight_strip"/>
          <p:cNvSpPr/>
          <p:nvPr/>
        </p:nvSpPr>
        <p:spPr>
          <a:xfrm>
            <a:off x="502920" y="5532120"/>
            <a:ext cx="11185855" cy="804672"/>
          </a:xfrm>
          <a:prstGeom prst="roundRect">
            <a:avLst>
              <a:gd name="adj" fmla="val 4000"/>
            </a:avLst>
          </a:prstGeom>
          <a:solidFill>
            <a:srgbClr val="172554"/>
          </a:solidFill>
          <a:ln w="2222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605272"/>
            <a:ext cx="108356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20" b="1">
                <a:solidFill>
                  <a:srgbClr val="8B95F6"/>
                </a:solidFill>
                <a:latin typeface="Segoe UI"/>
              </a:rPr>
              <a:t>💡 IDOR &amp; PURPOSE STRING CONTRACT:  </a:t>
            </a:r>
            <a:r>
              <a:rPr sz="1120" b="0">
                <a:solidFill>
                  <a:srgbClr val="F8FAFC"/>
                </a:solidFill>
                <a:latin typeface="Segoe UI"/>
              </a:rPr>
              <a:t>Returning 404 instead of 403 on unauthorized ID access prevents attackers from enumerating valid IDs, while immutable purpose strings protect existing ciphertexts.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6437376"/>
            <a:ext cx="11185855" cy="18288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483096"/>
            <a:ext cx="96012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Full Stack Web Development Project using ASP.NET Core (DSC-M-BCA-471P)  |  Student: Kaswan Yogesh Subhashchandra (Roll: 32)  |  Guide: Prof. Sejal Shah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6483096"/>
            <a:ext cx="1627632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950" b="1">
                <a:solidFill>
                  <a:srgbClr val="8B95F6"/>
                </a:solidFill>
                <a:latin typeface="Segoe UI"/>
              </a:defRPr>
            </a:pPr>
            <a:r>
              <a:t>Slide 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hase_badge"/>
          <p:cNvSpPr/>
          <p:nvPr/>
        </p:nvSpPr>
        <p:spPr>
          <a:xfrm>
            <a:off x="502920" y="384048"/>
            <a:ext cx="2514600" cy="34747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222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242316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50" b="1">
                <a:solidFill>
                  <a:srgbClr val="06B6D4"/>
                </a:solidFill>
                <a:latin typeface="Segoe UI"/>
              </a:defRPr>
            </a:pPr>
            <a:r>
              <a:t>PHASE 4 • API &amp; GO-LIVE</a:t>
            </a:r>
          </a:p>
        </p:txBody>
      </p:sp>
      <p:sp>
        <p:nvSpPr>
          <p:cNvPr id="4" name="!!slide_title"/>
          <p:cNvSpPr txBox="1"/>
          <p:nvPr/>
        </p:nvSpPr>
        <p:spPr>
          <a:xfrm>
            <a:off x="3127248" y="347472"/>
            <a:ext cx="777240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900" b="1">
                <a:solidFill>
                  <a:srgbClr val="F8FAFC"/>
                </a:solidFill>
                <a:latin typeface="Segoe UI"/>
              </a:defRPr>
            </a:pPr>
            <a:r>
              <a:t>Phase 4: REST API, JWT Authentication &amp;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7248" y="713232"/>
            <a:ext cx="77724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Objective: Expose a secure REST API with JWT Bearer auth and deploy to live production hosting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3474720" cy="3200400"/>
          </a:xfrm>
          <a:prstGeom prst="roundRect">
            <a:avLst>
              <a:gd name="adj" fmla="val 8000"/>
            </a:avLst>
          </a:prstGeom>
          <a:solidFill>
            <a:srgbClr val="1A2333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3200400" cy="36576"/>
          </a:xfrm>
          <a:prstGeom prst="roundRect">
            <a:avLst>
              <a:gd name="adj" fmla="val 6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3042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B0F19"/>
                </a:solidFill>
              </a:defRPr>
            </a:pPr>
            <a:r>
              <a:t>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2359152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REST API &amp; JWT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26079"/>
            <a:ext cx="3017520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VaultApiController under /api/v1/vault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AuthApiController handling POST /api/auth/login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Dual auth scheme: Cookie (MVC) + JWT Bearer (API)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API returns JSON 401 on missing auth (no redirect)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103120"/>
            <a:ext cx="3474720" cy="3200400"/>
          </a:xfrm>
          <a:prstGeom prst="roundRect">
            <a:avLst>
              <a:gd name="adj" fmla="val 8000"/>
            </a:avLst>
          </a:prstGeom>
          <a:solidFill>
            <a:srgbClr val="1A2333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0" y="2103120"/>
            <a:ext cx="3200400" cy="36576"/>
          </a:xfrm>
          <a:prstGeom prst="roundRect">
            <a:avLst>
              <a:gd name="adj" fmla="val 6000"/>
            </a:avLst>
          </a:prstGeom>
          <a:solidFill>
            <a:srgbClr val="5E6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23042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5E6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B0F19"/>
                </a:solidFill>
              </a:defRPr>
            </a:pPr>
            <a:r>
              <a:t>🛡️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359152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Error Handling &amp; Polish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926079"/>
            <a:ext cx="3017520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Global ExceptionHandlingMiddleware for JSON/HTML errors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Custom 404 and 500 error pages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Linear UI theme with Bootstrap 5 &amp; custom CSS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Copy-to-clipboard button with 10s auto-clear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103120"/>
            <a:ext cx="3474720" cy="3200400"/>
          </a:xfrm>
          <a:prstGeom prst="roundRect">
            <a:avLst>
              <a:gd name="adj" fmla="val 8000"/>
            </a:avLst>
          </a:prstGeom>
          <a:solidFill>
            <a:srgbClr val="1A2333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83880" y="2103120"/>
            <a:ext cx="3200400" cy="36576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75320" y="23042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B0F19"/>
                </a:solidFill>
              </a:defRPr>
            </a:pPr>
            <a:r>
              <a:t>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2359152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Live Production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926079"/>
            <a:ext cx="3017520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Published via dotnet publish -c Release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Hosted on MonsterASP (ciphervault.tryasp.net)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Let's Encrypt SSL certificate bound via HTTPS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Data Protection key directory secured outside web root</a:t>
            </a:r>
          </a:p>
        </p:txBody>
      </p:sp>
      <p:sp>
        <p:nvSpPr>
          <p:cNvPr id="21" name="!!insight_strip"/>
          <p:cNvSpPr/>
          <p:nvPr/>
        </p:nvSpPr>
        <p:spPr>
          <a:xfrm>
            <a:off x="502920" y="5532120"/>
            <a:ext cx="11185855" cy="804672"/>
          </a:xfrm>
          <a:prstGeom prst="roundRect">
            <a:avLst>
              <a:gd name="adj" fmla="val 4000"/>
            </a:avLst>
          </a:prstGeom>
          <a:solidFill>
            <a:srgbClr val="172554"/>
          </a:solidFill>
          <a:ln w="2222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605272"/>
            <a:ext cx="108356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20" b="1">
                <a:solidFill>
                  <a:srgbClr val="8B95F6"/>
                </a:solidFill>
                <a:latin typeface="Segoe UI"/>
              </a:rPr>
              <a:t>💡 DUAL AUTH SCHEME SEPARATION:  </a:t>
            </a:r>
            <a:r>
              <a:rPr sz="1120" b="0">
                <a:solidFill>
                  <a:srgbClr val="F8FAFC"/>
                </a:solidFill>
                <a:latin typeface="Segoe UI"/>
              </a:rPr>
              <a:t>Configuring explicit authentication schemes (`AuthenticationSchemes = JwtBearerDefaults.AuthenticationScheme`) ensures API clients receive clean JSON 401s without HTML redirect loops.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6437376"/>
            <a:ext cx="11185855" cy="18288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483096"/>
            <a:ext cx="96012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Full Stack Web Development Project using ASP.NET Core (DSC-M-BCA-471P)  |  Student: Kaswan Yogesh Subhashchandra (Roll: 32)  |  Guide: Prof. Sejal Shah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6483096"/>
            <a:ext cx="1627632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950" b="1">
                <a:solidFill>
                  <a:srgbClr val="8B95F6"/>
                </a:solidFill>
                <a:latin typeface="Segoe UI"/>
              </a:defRPr>
            </a:pPr>
            <a:r>
              <a:t>Slide 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hase_badge"/>
          <p:cNvSpPr/>
          <p:nvPr/>
        </p:nvSpPr>
        <p:spPr>
          <a:xfrm>
            <a:off x="502920" y="384048"/>
            <a:ext cx="2514600" cy="34747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22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242316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50" b="1">
                <a:solidFill>
                  <a:srgbClr val="10B981"/>
                </a:solidFill>
                <a:latin typeface="Segoe UI"/>
              </a:defRPr>
            </a:pPr>
            <a:r>
              <a:t>PROTOTYPE</a:t>
            </a:r>
          </a:p>
        </p:txBody>
      </p:sp>
      <p:sp>
        <p:nvSpPr>
          <p:cNvPr id="4" name="!!slide_title"/>
          <p:cNvSpPr txBox="1"/>
          <p:nvPr/>
        </p:nvSpPr>
        <p:spPr>
          <a:xfrm>
            <a:off x="3127248" y="347472"/>
            <a:ext cx="777240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900" b="1">
                <a:solidFill>
                  <a:srgbClr val="F8FAFC"/>
                </a:solidFill>
                <a:latin typeface="Segoe UI"/>
              </a:defRPr>
            </a:pPr>
            <a:r>
              <a:t>Live App Demo: Dashboard &amp; Vault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7248" y="713232"/>
            <a:ext cx="77724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Visual verification of production UI, analytics, and server-side search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5212080" cy="3931920"/>
          </a:xfrm>
          <a:prstGeom prst="roundRect">
            <a:avLst>
              <a:gd name="adj" fmla="val 4000"/>
            </a:avLst>
          </a:prstGeom>
          <a:solidFill>
            <a:srgbClr val="1A2333"/>
          </a:solidFill>
          <a:ln w="222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-dashboard-popul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2194560"/>
            <a:ext cx="5029200" cy="35478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5751576"/>
            <a:ext cx="4992624" cy="23774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Dashboard: KPI Stats, Chart.js Breakdown &amp; Recent Items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03120"/>
            <a:ext cx="5212080" cy="3931920"/>
          </a:xfrm>
          <a:prstGeom prst="roundRect">
            <a:avLst>
              <a:gd name="adj" fmla="val 4000"/>
            </a:avLst>
          </a:prstGeom>
          <a:solidFill>
            <a:srgbClr val="1A2333"/>
          </a:solidFill>
          <a:ln w="2222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7-list-with-fil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194560"/>
            <a:ext cx="5029200" cy="35478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19088" y="5751576"/>
            <a:ext cx="4992624" cy="23774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Vault: Server-Side Search, Category Filter &amp; Pagination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6437376"/>
            <a:ext cx="11185855" cy="18288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83096"/>
            <a:ext cx="96012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Full Stack Web Development Project using ASP.NET Core (DSC-M-BCA-471P)  |  Student: Kaswan Yogesh Subhashchandra (Roll: 32)  |  Guide: Prof. Sejal Shah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6483096"/>
            <a:ext cx="1627632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950" b="1">
                <a:solidFill>
                  <a:srgbClr val="8B95F6"/>
                </a:solidFill>
                <a:latin typeface="Segoe UI"/>
              </a:defRPr>
            </a:pPr>
            <a:r>
              <a:t>Slide 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hase_badge"/>
          <p:cNvSpPr/>
          <p:nvPr/>
        </p:nvSpPr>
        <p:spPr>
          <a:xfrm>
            <a:off x="502920" y="384048"/>
            <a:ext cx="2514600" cy="34747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22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242316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50" b="1">
                <a:solidFill>
                  <a:srgbClr val="10B981"/>
                </a:solidFill>
                <a:latin typeface="Segoe UI"/>
              </a:defRPr>
            </a:pPr>
            <a:r>
              <a:t>PROTOTYPE</a:t>
            </a:r>
          </a:p>
        </p:txBody>
      </p:sp>
      <p:sp>
        <p:nvSpPr>
          <p:cNvPr id="4" name="!!slide_title"/>
          <p:cNvSpPr txBox="1"/>
          <p:nvPr/>
        </p:nvSpPr>
        <p:spPr>
          <a:xfrm>
            <a:off x="3127248" y="347472"/>
            <a:ext cx="777240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900" b="1">
                <a:solidFill>
                  <a:srgbClr val="F8FAFC"/>
                </a:solidFill>
                <a:latin typeface="Segoe UI"/>
              </a:defRPr>
            </a:pPr>
            <a:r>
              <a:t>Live App Demo: Encrypted CRUD &amp; Reveal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7248" y="713232"/>
            <a:ext cx="77724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Secure creation, masking by default, and authorized on-demand decryption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5212080" cy="3931920"/>
          </a:xfrm>
          <a:prstGeom prst="roundRect">
            <a:avLst>
              <a:gd name="adj" fmla="val 4000"/>
            </a:avLst>
          </a:prstGeom>
          <a:solidFill>
            <a:srgbClr val="1A2333"/>
          </a:solidFill>
          <a:ln w="22225">
            <a:solidFill>
              <a:srgbClr val="8B95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9-create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2194560"/>
            <a:ext cx="5029200" cy="35478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5751576"/>
            <a:ext cx="4992624" cy="23774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Create Form with Password Generator &amp; Strength Meter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03120"/>
            <a:ext cx="5212080" cy="3931920"/>
          </a:xfrm>
          <a:prstGeom prst="roundRect">
            <a:avLst>
              <a:gd name="adj" fmla="val 4000"/>
            </a:avLst>
          </a:prstGeom>
          <a:solidFill>
            <a:srgbClr val="1A2333"/>
          </a:solidFill>
          <a:ln w="222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2-details-revea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194560"/>
            <a:ext cx="5029200" cy="35478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19088" y="5751576"/>
            <a:ext cx="4992624" cy="23774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Details View: Masked Secrets &amp; On-Demand Reveal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6437376"/>
            <a:ext cx="11185855" cy="18288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83096"/>
            <a:ext cx="96012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Full Stack Web Development Project using ASP.NET Core (DSC-M-BCA-471P)  |  Student: Kaswan Yogesh Subhashchandra (Roll: 32)  |  Guide: Prof. Sejal Shah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6483096"/>
            <a:ext cx="1627632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950" b="1">
                <a:solidFill>
                  <a:srgbClr val="8B95F6"/>
                </a:solidFill>
                <a:latin typeface="Segoe UI"/>
              </a:defRPr>
            </a:pPr>
            <a:r>
              <a:t>Slide 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hase_badge"/>
          <p:cNvSpPr/>
          <p:nvPr/>
        </p:nvSpPr>
        <p:spPr>
          <a:xfrm>
            <a:off x="502920" y="384048"/>
            <a:ext cx="2514600" cy="34747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222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242316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50" b="1">
                <a:solidFill>
                  <a:srgbClr val="EF4444"/>
                </a:solidFill>
                <a:latin typeface="Segoe UI"/>
              </a:defRPr>
            </a:pPr>
            <a:r>
              <a:t>SECURITY PROOF</a:t>
            </a:r>
          </a:p>
        </p:txBody>
      </p:sp>
      <p:sp>
        <p:nvSpPr>
          <p:cNvPr id="4" name="!!slide_title"/>
          <p:cNvSpPr txBox="1"/>
          <p:nvPr/>
        </p:nvSpPr>
        <p:spPr>
          <a:xfrm>
            <a:off x="3127248" y="347472"/>
            <a:ext cx="777240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900" b="1">
                <a:solidFill>
                  <a:srgbClr val="F8FAFC"/>
                </a:solidFill>
                <a:latin typeface="Segoe UI"/>
              </a:defRPr>
            </a:pPr>
            <a:r>
              <a:t>Security Verification &amp; Database Inspection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7248" y="713232"/>
            <a:ext cx="77724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SSMS verification proving ciphertext-only storage and cross-user isolation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5212080" cy="3931920"/>
          </a:xfrm>
          <a:prstGeom prst="roundRect">
            <a:avLst>
              <a:gd name="adj" fmla="val 4000"/>
            </a:avLst>
          </a:prstGeom>
          <a:solidFill>
            <a:srgbClr val="1A2333"/>
          </a:solidFill>
          <a:ln w="2222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5-db-encrypted-ss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2194560"/>
            <a:ext cx="5029200" cy="35478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5751576"/>
            <a:ext cx="4992624" cy="23774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SSMS Proof: EncryptedSecret &amp; EncryptedNotes Store Ciphertext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03120"/>
            <a:ext cx="5212080" cy="3931920"/>
          </a:xfrm>
          <a:prstGeom prst="roundRect">
            <a:avLst>
              <a:gd name="adj" fmla="val 4000"/>
            </a:avLst>
          </a:prstGeom>
          <a:solidFill>
            <a:srgbClr val="1A2333"/>
          </a:solidFill>
          <a:ln w="222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8-devtools-hs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194560"/>
            <a:ext cx="5029200" cy="35478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19088" y="5751576"/>
            <a:ext cx="4992624" cy="23774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DevTools Proof: HSTS Header &amp; Secure Cookies Active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6437376"/>
            <a:ext cx="11185855" cy="18288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83096"/>
            <a:ext cx="96012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Full Stack Web Development Project using ASP.NET Core (DSC-M-BCA-471P)  |  Student: Kaswan Yogesh Subhashchandra (Roll: 32)  |  Guide: Prof. Sejal Shah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6483096"/>
            <a:ext cx="1627632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950" b="1">
                <a:solidFill>
                  <a:srgbClr val="8B95F6"/>
                </a:solidFill>
                <a:latin typeface="Segoe UI"/>
              </a:defRPr>
            </a:pPr>
            <a:r>
              <a:t>Slide 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hase_badge"/>
          <p:cNvSpPr/>
          <p:nvPr/>
        </p:nvSpPr>
        <p:spPr>
          <a:xfrm>
            <a:off x="502920" y="384048"/>
            <a:ext cx="2514600" cy="34747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222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242316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50" b="1">
                <a:solidFill>
                  <a:srgbClr val="06B6D4"/>
                </a:solidFill>
                <a:latin typeface="Segoe UI"/>
              </a:defRPr>
            </a:pPr>
            <a:r>
              <a:t>API VERIFICATION</a:t>
            </a:r>
          </a:p>
        </p:txBody>
      </p:sp>
      <p:sp>
        <p:nvSpPr>
          <p:cNvPr id="4" name="!!slide_title"/>
          <p:cNvSpPr txBox="1"/>
          <p:nvPr/>
        </p:nvSpPr>
        <p:spPr>
          <a:xfrm>
            <a:off x="3127248" y="347472"/>
            <a:ext cx="777240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900" b="1">
                <a:solidFill>
                  <a:srgbClr val="F8FAFC"/>
                </a:solidFill>
                <a:latin typeface="Segoe UI"/>
              </a:defRPr>
            </a:pPr>
            <a:r>
              <a:t>REST API Verification via Postman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7248" y="713232"/>
            <a:ext cx="77724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End-to-end testing of JWT login, unauthorized responses, and IDOR protection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3383280" cy="3931920"/>
          </a:xfrm>
          <a:prstGeom prst="roundRect">
            <a:avLst>
              <a:gd name="adj" fmla="val 4000"/>
            </a:avLst>
          </a:prstGeom>
          <a:solidFill>
            <a:srgbClr val="1A2333"/>
          </a:solidFill>
          <a:ln w="2222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0-postman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2194560"/>
            <a:ext cx="3200400" cy="35478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5751576"/>
            <a:ext cx="3163824" cy="23774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Postman: POST /api/auth/login Issuing JWT Bearer Token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03120"/>
            <a:ext cx="3383280" cy="3931920"/>
          </a:xfrm>
          <a:prstGeom prst="roundRect">
            <a:avLst>
              <a:gd name="adj" fmla="val 4000"/>
            </a:avLst>
          </a:prstGeom>
          <a:solidFill>
            <a:srgbClr val="1A2333"/>
          </a:solidFill>
          <a:ln w="222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22-postman-4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59" y="2194560"/>
            <a:ext cx="3200400" cy="35478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98848" y="5751576"/>
            <a:ext cx="3163824" cy="23774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Postman: HTTP 401 Unauthorized (No Redirect)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103120"/>
            <a:ext cx="3383280" cy="3931920"/>
          </a:xfrm>
          <a:prstGeom prst="roundRect">
            <a:avLst>
              <a:gd name="adj" fmla="val 4000"/>
            </a:avLst>
          </a:prstGeom>
          <a:solidFill>
            <a:srgbClr val="1A2333"/>
          </a:solidFill>
          <a:ln w="2222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23-postman-404-id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2194560"/>
            <a:ext cx="3200400" cy="35478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47888" y="5751576"/>
            <a:ext cx="3163824" cy="23774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Postman: HTTP 404 Not Found (IDOR Cross-User Guard)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6437376"/>
            <a:ext cx="11185855" cy="18288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483096"/>
            <a:ext cx="96012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Full Stack Web Development Project using ASP.NET Core (DSC-M-BCA-471P)  |  Student: Kaswan Yogesh Subhashchandra (Roll: 32)  |  Guide: Prof. Sejal Shah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6483096"/>
            <a:ext cx="1627632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950" b="1">
                <a:solidFill>
                  <a:srgbClr val="8B95F6"/>
                </a:solidFill>
                <a:latin typeface="Segoe UI"/>
              </a:defRPr>
            </a:pPr>
            <a:r>
              <a:t>Slide 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hase_badge"/>
          <p:cNvSpPr/>
          <p:nvPr/>
        </p:nvSpPr>
        <p:spPr>
          <a:xfrm>
            <a:off x="502920" y="384048"/>
            <a:ext cx="2514600" cy="34747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22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242316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50" b="1">
                <a:solidFill>
                  <a:srgbClr val="10B981"/>
                </a:solidFill>
                <a:latin typeface="Segoe UI"/>
              </a:defRPr>
            </a:pPr>
            <a:r>
              <a:t>VERIFICATION</a:t>
            </a:r>
          </a:p>
        </p:txBody>
      </p:sp>
      <p:sp>
        <p:nvSpPr>
          <p:cNvPr id="4" name="!!slide_title"/>
          <p:cNvSpPr txBox="1"/>
          <p:nvPr/>
        </p:nvSpPr>
        <p:spPr>
          <a:xfrm>
            <a:off x="3127248" y="347472"/>
            <a:ext cx="777240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900" b="1">
                <a:solidFill>
                  <a:srgbClr val="F8FAFC"/>
                </a:solidFill>
                <a:latin typeface="Segoe UI"/>
              </a:defRPr>
            </a:pPr>
            <a:r>
              <a:t>Comprehensive Testing &amp; Verification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7248" y="713232"/>
            <a:ext cx="77724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Summary of 11 critical test cases verified across local development and production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103120"/>
          <a:ext cx="1091153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6705295"/>
                <a:gridCol w="1280160"/>
              </a:tblGrid>
              <a:tr h="3276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8B95F6"/>
                          </a:solidFill>
                          <a:latin typeface="Segoe UI"/>
                        </a:defRPr>
                      </a:pPr>
                      <a:r>
                        <a:t>Test Case Description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8B95F6"/>
                          </a:solidFill>
                          <a:latin typeface="Segoe UI"/>
                        </a:defRPr>
                      </a:pPr>
                      <a:r>
                        <a:t>Expected Behavior / Requirement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8B95F6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IDOR Cross-User Access</a:t>
                      </a:r>
                    </a:p>
                  </a:txBody>
                  <a:tcPr anchor="ctr">
                    <a:solidFill>
                      <a:srgbClr val="1A2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Attempting to access another user's vault item returns 404 Not Found</a:t>
                      </a:r>
                    </a:p>
                  </a:txBody>
                  <a:tcPr anchor="ctr">
                    <a:solidFill>
                      <a:srgbClr val="1A23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PASS ✔</a:t>
                      </a:r>
                    </a:p>
                  </a:txBody>
                  <a:tcPr anchor="ctr">
                    <a:solidFill>
                      <a:srgbClr val="1A2333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Blank Secret on Update</a:t>
                      </a:r>
                    </a:p>
                  </a:txBody>
                  <a:tcPr anchor="ctr"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Submitting an edit form with a blank secret preserves existing ciphertext</a:t>
                      </a:r>
                    </a:p>
                  </a:txBody>
                  <a:tcPr anchor="ctr"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PASS ✔</a:t>
                      </a:r>
                    </a:p>
                  </a:txBody>
                  <a:tcPr anchor="ctr">
                    <a:solidFill>
                      <a:srgbClr val="0B0F19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Blank Notes on Update</a:t>
                      </a:r>
                    </a:p>
                  </a:txBody>
                  <a:tcPr anchor="ctr">
                    <a:solidFill>
                      <a:srgbClr val="1A2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Leaving notes blank preserves them; empty string clears them to null</a:t>
                      </a:r>
                    </a:p>
                  </a:txBody>
                  <a:tcPr anchor="ctr">
                    <a:solidFill>
                      <a:srgbClr val="1A23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PASS ✔</a:t>
                      </a:r>
                    </a:p>
                  </a:txBody>
                  <a:tcPr anchor="ctr">
                    <a:solidFill>
                      <a:srgbClr val="1A2333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API Missing Token</a:t>
                      </a:r>
                    </a:p>
                  </a:txBody>
                  <a:tcPr anchor="ctr"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Calling /api/v1/vault without a token returns HTTP 401 JSON (no redirect)</a:t>
                      </a:r>
                    </a:p>
                  </a:txBody>
                  <a:tcPr anchor="ctr"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PASS ✔</a:t>
                      </a:r>
                    </a:p>
                  </a:txBody>
                  <a:tcPr anchor="ctr">
                    <a:solidFill>
                      <a:srgbClr val="0B0F19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API ?decrypt=true</a:t>
                      </a:r>
                    </a:p>
                  </a:txBody>
                  <a:tcPr anchor="ctr">
                    <a:solidFill>
                      <a:srgbClr val="1A2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Supplying ?decrypt=true query parameter is rejected with HTTP 400</a:t>
                      </a:r>
                    </a:p>
                  </a:txBody>
                  <a:tcPr anchor="ctr">
                    <a:solidFill>
                      <a:srgbClr val="1A23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PASS ✔</a:t>
                      </a:r>
                    </a:p>
                  </a:txBody>
                  <a:tcPr anchor="ctr">
                    <a:solidFill>
                      <a:srgbClr val="1A2333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Account Lockout</a:t>
                      </a:r>
                    </a:p>
                  </a:txBody>
                  <a:tcPr anchor="ctr"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5 failed login attempts trigger a 15-minute account lockout (HTTP 423)</a:t>
                      </a:r>
                    </a:p>
                  </a:txBody>
                  <a:tcPr anchor="ctr"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PASS ✔</a:t>
                      </a:r>
                    </a:p>
                  </a:txBody>
                  <a:tcPr anchor="ctr">
                    <a:solidFill>
                      <a:srgbClr val="0B0F19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HSTS Header</a:t>
                      </a:r>
                    </a:p>
                  </a:txBody>
                  <a:tcPr anchor="ctr">
                    <a:solidFill>
                      <a:srgbClr val="1A2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Production environment emits Strict-Transport-Security header</a:t>
                      </a:r>
                    </a:p>
                  </a:txBody>
                  <a:tcPr anchor="ctr">
                    <a:solidFill>
                      <a:srgbClr val="1A23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PASS ✔</a:t>
                      </a:r>
                    </a:p>
                  </a:txBody>
                  <a:tcPr anchor="ctr">
                    <a:solidFill>
                      <a:srgbClr val="1A2333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Encryption at Rest</a:t>
                      </a:r>
                    </a:p>
                  </a:txBody>
                  <a:tcPr anchor="ctr"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Database inspection confirms only ciphertext is stored in Secret/Notes columns</a:t>
                      </a:r>
                    </a:p>
                  </a:txBody>
                  <a:tcPr anchor="ctr"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PASS ✔</a:t>
                      </a:r>
                    </a:p>
                  </a:txBody>
                  <a:tcPr anchor="ctr">
                    <a:solidFill>
                      <a:srgbClr val="0B0F19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Key Persistence</a:t>
                      </a:r>
                    </a:p>
                  </a:txBody>
                  <a:tcPr anchor="ctr">
                    <a:solidFill>
                      <a:srgbClr val="1A2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Application restart does not invalidate existing ciphertext (Key ring persists)</a:t>
                      </a:r>
                    </a:p>
                  </a:txBody>
                  <a:tcPr anchor="ctr">
                    <a:solidFill>
                      <a:srgbClr val="1A23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PASS ✔</a:t>
                      </a:r>
                    </a:p>
                  </a:txBody>
                  <a:tcPr anchor="ctr">
                    <a:solidFill>
                      <a:srgbClr val="1A2333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Global Exception Handling</a:t>
                      </a:r>
                    </a:p>
                  </a:txBody>
                  <a:tcPr anchor="ctr"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Unhandled exceptions return JSON 500 for API and custom error page for MVC</a:t>
                      </a:r>
                    </a:p>
                  </a:txBody>
                  <a:tcPr anchor="ctr"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PASS ✔</a:t>
                      </a:r>
                    </a:p>
                  </a:txBody>
                  <a:tcPr anchor="ctr">
                    <a:solidFill>
                      <a:srgbClr val="0B0F19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Mobile Responsiveness</a:t>
                      </a:r>
                    </a:p>
                  </a:txBody>
                  <a:tcPr anchor="ctr">
                    <a:solidFill>
                      <a:srgbClr val="1A2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Bootstrap 5 layout adapts cleanly across mobile and desktop viewports</a:t>
                      </a:r>
                    </a:p>
                  </a:txBody>
                  <a:tcPr anchor="ctr">
                    <a:solidFill>
                      <a:srgbClr val="1A23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PASS ✔</a:t>
                      </a:r>
                    </a:p>
                  </a:txBody>
                  <a:tcPr anchor="ctr">
                    <a:solidFill>
                      <a:srgbClr val="1A2333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6437376"/>
            <a:ext cx="11185855" cy="18288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83096"/>
            <a:ext cx="96012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Full Stack Web Development Project using ASP.NET Core (DSC-M-BCA-471P)  |  Student: Kaswan Yogesh Subhashchandra (Roll: 32)  |  Guide: Prof. Sejal Shah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83096"/>
            <a:ext cx="1627632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950" b="1">
                <a:solidFill>
                  <a:srgbClr val="8B95F6"/>
                </a:solidFill>
                <a:latin typeface="Segoe UI"/>
              </a:defRPr>
            </a:pPr>
            <a:r>
              <a:t>Slide 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hase_badge"/>
          <p:cNvSpPr/>
          <p:nvPr/>
        </p:nvSpPr>
        <p:spPr>
          <a:xfrm>
            <a:off x="502920" y="384048"/>
            <a:ext cx="2514600" cy="34747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22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242316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50" b="1">
                <a:solidFill>
                  <a:srgbClr val="F59E0B"/>
                </a:solidFill>
                <a:latin typeface="Segoe UI"/>
              </a:defRPr>
            </a:pPr>
            <a:r>
              <a:t>RETROSPECTIVE</a:t>
            </a:r>
          </a:p>
        </p:txBody>
      </p:sp>
      <p:sp>
        <p:nvSpPr>
          <p:cNvPr id="4" name="!!slide_title"/>
          <p:cNvSpPr txBox="1"/>
          <p:nvPr/>
        </p:nvSpPr>
        <p:spPr>
          <a:xfrm>
            <a:off x="3127248" y="347472"/>
            <a:ext cx="777240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900" b="1">
                <a:solidFill>
                  <a:srgbClr val="F8FAFC"/>
                </a:solidFill>
                <a:latin typeface="Segoe UI"/>
              </a:defRPr>
            </a:pPr>
            <a:r>
              <a:t>Technical Challenges &amp;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7248" y="713232"/>
            <a:ext cx="77724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Real-world hurdles encountered during development and how they were resolved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10911535" cy="749808"/>
          </a:xfrm>
          <a:prstGeom prst="roundRect">
            <a:avLst>
              <a:gd name="adj" fmla="val 4000"/>
            </a:avLst>
          </a:prstGeom>
          <a:solidFill>
            <a:srgbClr val="1A2333"/>
          </a:solidFill>
          <a:ln w="222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73152" cy="749808"/>
          </a:xfrm>
          <a:prstGeom prst="roundRect">
            <a:avLst>
              <a:gd name="adj" fmla="val 4000"/>
            </a:avLst>
          </a:prstGeom>
          <a:solidFill>
            <a:srgbClr val="F59E0B"/>
          </a:solidFill>
          <a:ln w="222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3200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50" b="1">
                <a:solidFill>
                  <a:srgbClr val="F8FAFC"/>
                </a:solidFill>
                <a:latin typeface="Segoe UI"/>
              </a:defRPr>
            </a:pPr>
            <a:r>
              <a:t>__Host- Cookie Prefix Conflict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194560"/>
            <a:ext cx="713232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Segoe UI"/>
              </a:defRPr>
            </a:pPr>
            <a:r>
              <a:t>The __Host- cookie prefix caused login failures during local HTTP development. Resolved by renaming the cookie to CipherVault.Auth while maintaining unconditional SecurePolicy = Always.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62656"/>
            <a:ext cx="10911535" cy="749808"/>
          </a:xfrm>
          <a:prstGeom prst="roundRect">
            <a:avLst>
              <a:gd name="adj" fmla="val 4000"/>
            </a:avLst>
          </a:prstGeom>
          <a:solidFill>
            <a:srgbClr val="1A2333"/>
          </a:solidFill>
          <a:ln w="222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962656"/>
            <a:ext cx="73152" cy="749808"/>
          </a:xfrm>
          <a:prstGeom prst="roundRect">
            <a:avLst>
              <a:gd name="adj" fmla="val 4000"/>
            </a:avLst>
          </a:prstGeom>
          <a:solidFill>
            <a:srgbClr val="F59E0B"/>
          </a:solidFill>
          <a:ln w="222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54096"/>
            <a:ext cx="3200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50" b="1">
                <a:solidFill>
                  <a:srgbClr val="F8FAFC"/>
                </a:solidFill>
                <a:latin typeface="Segoe UI"/>
              </a:defRPr>
            </a:pPr>
            <a:r>
              <a:t>Lockout Parity Across Interfaces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054096"/>
            <a:ext cx="713232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Segoe UI"/>
              </a:defRPr>
            </a:pPr>
            <a:r>
              <a:t>MVC login and API login had divergent lockout behaviors. Resolved by scaffolding the Identity Login page and enabling lockoutOnFailure: true across both pathways.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22191"/>
            <a:ext cx="10911535" cy="749808"/>
          </a:xfrm>
          <a:prstGeom prst="roundRect">
            <a:avLst>
              <a:gd name="adj" fmla="val 4000"/>
            </a:avLst>
          </a:prstGeom>
          <a:solidFill>
            <a:srgbClr val="1A2333"/>
          </a:solidFill>
          <a:ln w="222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3822191"/>
            <a:ext cx="73152" cy="749808"/>
          </a:xfrm>
          <a:prstGeom prst="roundRect">
            <a:avLst>
              <a:gd name="adj" fmla="val 4000"/>
            </a:avLst>
          </a:prstGeom>
          <a:solidFill>
            <a:srgbClr val="F59E0B"/>
          </a:solidFill>
          <a:ln w="222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913631"/>
            <a:ext cx="3200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50" b="1">
                <a:solidFill>
                  <a:srgbClr val="F8FAFC"/>
                </a:solidFill>
                <a:latin typeface="Segoe UI"/>
              </a:defRPr>
            </a:pPr>
            <a:r>
              <a:t>HSTS Poisoning on Localhost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913631"/>
            <a:ext cx="713232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Segoe UI"/>
              </a:defRPr>
            </a:pPr>
            <a:r>
              <a:t>Enabling HSTS globally caused browser HSTS pinning on local development ports. Resolved by gating UseHsts() strictly inside if (app.Environment.IsProduction()).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681727"/>
            <a:ext cx="10911535" cy="749808"/>
          </a:xfrm>
          <a:prstGeom prst="roundRect">
            <a:avLst>
              <a:gd name="adj" fmla="val 4000"/>
            </a:avLst>
          </a:prstGeom>
          <a:solidFill>
            <a:srgbClr val="1A2333"/>
          </a:solidFill>
          <a:ln w="222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4681727"/>
            <a:ext cx="73152" cy="749808"/>
          </a:xfrm>
          <a:prstGeom prst="roundRect">
            <a:avLst>
              <a:gd name="adj" fmla="val 4000"/>
            </a:avLst>
          </a:prstGeom>
          <a:solidFill>
            <a:srgbClr val="F59E0B"/>
          </a:solidFill>
          <a:ln w="222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773167"/>
            <a:ext cx="3200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50" b="1">
                <a:solidFill>
                  <a:srgbClr val="F8FAFC"/>
                </a:solidFill>
                <a:latin typeface="Segoe UI"/>
              </a:defRPr>
            </a:pPr>
            <a:r>
              <a:t>Key Ring Persistence on Shared Host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4773167"/>
            <a:ext cx="713232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Segoe UI"/>
              </a:defRPr>
            </a:pPr>
            <a:r>
              <a:t>Default key directories risked being overwritten during deployments. Resolved by enforcing DataProtection__KeyDirectory outside the web root via environment variables.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541263"/>
            <a:ext cx="10911535" cy="749808"/>
          </a:xfrm>
          <a:prstGeom prst="roundRect">
            <a:avLst>
              <a:gd name="adj" fmla="val 4000"/>
            </a:avLst>
          </a:prstGeom>
          <a:solidFill>
            <a:srgbClr val="1A2333"/>
          </a:solidFill>
          <a:ln w="222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5541263"/>
            <a:ext cx="73152" cy="749808"/>
          </a:xfrm>
          <a:prstGeom prst="roundRect">
            <a:avLst>
              <a:gd name="adj" fmla="val 4000"/>
            </a:avLst>
          </a:prstGeom>
          <a:solidFill>
            <a:srgbClr val="F59E0B"/>
          </a:solidFill>
          <a:ln w="222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632703"/>
            <a:ext cx="3200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50" b="1">
                <a:solidFill>
                  <a:srgbClr val="F8FAFC"/>
                </a:solidFill>
                <a:latin typeface="Segoe UI"/>
              </a:defRPr>
            </a:pPr>
            <a:r>
              <a:t>DTO Blank-Preserve Semantics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5632703"/>
            <a:ext cx="713232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Segoe UI"/>
              </a:defRPr>
            </a:pPr>
            <a:r>
              <a:t>Distinguishing between 'keep existing secret' and 'clear field' in updates. Resolved by implementing explicit null vs empty string checks in the VaultItemService.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6437376"/>
            <a:ext cx="11185855" cy="18288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483096"/>
            <a:ext cx="96012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Full Stack Web Development Project using ASP.NET Core (DSC-M-BCA-471P)  |  Student: Kaswan Yogesh Subhashchandra (Roll: 32)  |  Guide: Prof. Sejal Shah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6483096"/>
            <a:ext cx="1627632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950" b="1">
                <a:solidFill>
                  <a:srgbClr val="8B95F6"/>
                </a:solidFill>
                <a:latin typeface="Segoe UI"/>
              </a:defRPr>
            </a:pPr>
            <a:r>
              <a:t>Slide 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hase_badge"/>
          <p:cNvSpPr/>
          <p:nvPr/>
        </p:nvSpPr>
        <p:spPr>
          <a:xfrm>
            <a:off x="502920" y="384048"/>
            <a:ext cx="2514600" cy="34747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2225">
            <a:solidFill>
              <a:srgbClr val="8B95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242316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50" b="1">
                <a:solidFill>
                  <a:srgbClr val="8B95F6"/>
                </a:solidFill>
                <a:latin typeface="Segoe UI"/>
              </a:defRPr>
            </a:pPr>
            <a:r>
              <a:t>REFLECTION</a:t>
            </a:r>
          </a:p>
        </p:txBody>
      </p:sp>
      <p:sp>
        <p:nvSpPr>
          <p:cNvPr id="4" name="!!slide_title"/>
          <p:cNvSpPr txBox="1"/>
          <p:nvPr/>
        </p:nvSpPr>
        <p:spPr>
          <a:xfrm>
            <a:off x="3127248" y="347472"/>
            <a:ext cx="777240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900" b="1">
                <a:solidFill>
                  <a:srgbClr val="F8FAFC"/>
                </a:solidFill>
                <a:latin typeface="Segoe UI"/>
              </a:defRPr>
            </a:pPr>
            <a:r>
              <a:t>Lessons Learned &amp; Engineering Best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7248" y="713232"/>
            <a:ext cx="77724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Key takeaways from building a production-oriented ASP.NET Core 10 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10911535" cy="777240"/>
          </a:xfrm>
          <a:prstGeom prst="roundRect">
            <a:avLst>
              <a:gd name="adj" fmla="val 4000"/>
            </a:avLst>
          </a:prstGeom>
          <a:solidFill>
            <a:srgbClr val="1A2333"/>
          </a:solidFill>
          <a:ln w="222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304288"/>
            <a:ext cx="365760" cy="365760"/>
          </a:xfrm>
          <a:prstGeom prst="ellipse">
            <a:avLst/>
          </a:prstGeom>
          <a:solidFill>
            <a:srgbClr val="8B9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B0F19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12848"/>
            <a:ext cx="3200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Segoe UI"/>
              </a:defRPr>
            </a:pPr>
            <a:r>
              <a:t>Architecture Discipline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212848"/>
            <a:ext cx="667512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Enforcing strict separation between controllers, services, and repositories prevents spaghetti code and simplifies unit testing.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80944"/>
            <a:ext cx="10911535" cy="777240"/>
          </a:xfrm>
          <a:prstGeom prst="roundRect">
            <a:avLst>
              <a:gd name="adj" fmla="val 4000"/>
            </a:avLst>
          </a:prstGeom>
          <a:solidFill>
            <a:srgbClr val="1A2333"/>
          </a:solidFill>
          <a:ln w="222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3182112"/>
            <a:ext cx="365760" cy="365760"/>
          </a:xfrm>
          <a:prstGeom prst="ellipse">
            <a:avLst/>
          </a:prstGeom>
          <a:solidFill>
            <a:srgbClr val="8B9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B0F19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090672"/>
            <a:ext cx="3200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Segoe UI"/>
              </a:defRPr>
            </a:pPr>
            <a:r>
              <a:t>Cryptographic Contracts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090672"/>
            <a:ext cx="667512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Purpose strings are immutable contracts. Planning key management and directory persistence before production deployment is mandatory.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58768"/>
            <a:ext cx="10911535" cy="777240"/>
          </a:xfrm>
          <a:prstGeom prst="roundRect">
            <a:avLst>
              <a:gd name="adj" fmla="val 4000"/>
            </a:avLst>
          </a:prstGeom>
          <a:solidFill>
            <a:srgbClr val="1A2333"/>
          </a:solidFill>
          <a:ln w="222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4059935"/>
            <a:ext cx="365760" cy="365760"/>
          </a:xfrm>
          <a:prstGeom prst="ellipse">
            <a:avLst/>
          </a:prstGeom>
          <a:solidFill>
            <a:srgbClr val="8B9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B0F19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968496"/>
            <a:ext cx="3200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Segoe UI"/>
              </a:defRPr>
            </a:pPr>
            <a:r>
              <a:t>Security by Default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968496"/>
            <a:ext cx="667512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IDOR protection belongs in the service layer, not controller actions, ensuring ownership checks cannot be accidentally bypassed.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36592"/>
            <a:ext cx="10911535" cy="777240"/>
          </a:xfrm>
          <a:prstGeom prst="roundRect">
            <a:avLst>
              <a:gd name="adj" fmla="val 4000"/>
            </a:avLst>
          </a:prstGeom>
          <a:solidFill>
            <a:srgbClr val="1A2333"/>
          </a:solidFill>
          <a:ln w="222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4937759"/>
            <a:ext cx="365760" cy="365760"/>
          </a:xfrm>
          <a:prstGeom prst="ellipse">
            <a:avLst/>
          </a:prstGeom>
          <a:solidFill>
            <a:srgbClr val="8B9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B0F19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846320"/>
            <a:ext cx="3200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Segoe UI"/>
              </a:defRPr>
            </a:pPr>
            <a:r>
              <a:t>Dual Auth Complexity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846320"/>
            <a:ext cx="667512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Mixing cookie authentication and JWT bearer tokens requires explicit scheme configuration to prevent unwanted login redirects on API endpoints.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614416"/>
            <a:ext cx="10911535" cy="777240"/>
          </a:xfrm>
          <a:prstGeom prst="roundRect">
            <a:avLst>
              <a:gd name="adj" fmla="val 4000"/>
            </a:avLst>
          </a:prstGeom>
          <a:solidFill>
            <a:srgbClr val="1A2333"/>
          </a:solidFill>
          <a:ln w="222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5815583"/>
            <a:ext cx="365760" cy="365760"/>
          </a:xfrm>
          <a:prstGeom prst="ellipse">
            <a:avLst/>
          </a:prstGeom>
          <a:solidFill>
            <a:srgbClr val="8B9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B0F19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724144"/>
            <a:ext cx="3200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Segoe UI"/>
              </a:defRPr>
            </a:pPr>
            <a:r>
              <a:t>Environment Parity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5724144"/>
            <a:ext cx="667512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Testing production settings (HSTS, secure cookies, external key directories) locally via user-secrets and environment profiles prevents release-day surprises.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6437376"/>
            <a:ext cx="11185855" cy="18288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483096"/>
            <a:ext cx="96012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Full Stack Web Development Project using ASP.NET Core (DSC-M-BCA-471P)  |  Student: Kaswan Yogesh Subhashchandra (Roll: 32)  |  Guide: Prof. Sejal Shah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6483096"/>
            <a:ext cx="1627632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950" b="1">
                <a:solidFill>
                  <a:srgbClr val="8B95F6"/>
                </a:solidFill>
                <a:latin typeface="Segoe UI"/>
              </a:defRPr>
            </a:pPr>
            <a:r>
              <a:t>Slide 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hase_badge"/>
          <p:cNvSpPr/>
          <p:nvPr/>
        </p:nvSpPr>
        <p:spPr>
          <a:xfrm>
            <a:off x="502920" y="384048"/>
            <a:ext cx="2514600" cy="34747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222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242316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50" b="1">
                <a:solidFill>
                  <a:srgbClr val="06B6D4"/>
                </a:solidFill>
                <a:latin typeface="Segoe UI"/>
              </a:defRPr>
            </a:pPr>
            <a:r>
              <a:t>ROADMAP</a:t>
            </a:r>
          </a:p>
        </p:txBody>
      </p:sp>
      <p:sp>
        <p:nvSpPr>
          <p:cNvPr id="4" name="!!slide_title"/>
          <p:cNvSpPr txBox="1"/>
          <p:nvPr/>
        </p:nvSpPr>
        <p:spPr>
          <a:xfrm>
            <a:off x="3127248" y="347472"/>
            <a:ext cx="777240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900" b="1">
                <a:solidFill>
                  <a:srgbClr val="F8FAFC"/>
                </a:solidFill>
                <a:latin typeface="Segoe UI"/>
              </a:defRPr>
            </a:pPr>
            <a:r>
              <a:t>Future Enhancements &amp; Production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7248" y="713232"/>
            <a:ext cx="77724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Pathways toward enterprise-grade security and operational maturity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3474720" cy="3931920"/>
          </a:xfrm>
          <a:prstGeom prst="roundRect">
            <a:avLst>
              <a:gd name="adj" fmla="val 8000"/>
            </a:avLst>
          </a:prstGeom>
          <a:solidFill>
            <a:srgbClr val="1A2333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3200400" cy="36576"/>
          </a:xfrm>
          <a:prstGeom prst="roundRect">
            <a:avLst>
              <a:gd name="adj" fmla="val 6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3042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B0F19"/>
                </a:solidFill>
              </a:defRPr>
            </a:pPr>
            <a:r>
              <a:t>🛡️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2359152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Security Enhancements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26079"/>
            <a:ext cx="3017520" cy="3017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Multi-factor authentication (TOTP / WebAuthn)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Secure password reset and recovery flows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Azure Key Vault / AWS Secrets Manager integration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Independent third-party security audit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103120"/>
            <a:ext cx="3474720" cy="3931920"/>
          </a:xfrm>
          <a:prstGeom prst="roundRect">
            <a:avLst>
              <a:gd name="adj" fmla="val 8000"/>
            </a:avLst>
          </a:prstGeom>
          <a:solidFill>
            <a:srgbClr val="1A2333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0" y="2103120"/>
            <a:ext cx="3200400" cy="36576"/>
          </a:xfrm>
          <a:prstGeom prst="roundRect">
            <a:avLst>
              <a:gd name="adj" fmla="val 6000"/>
            </a:avLst>
          </a:prstGeom>
          <a:solidFill>
            <a:srgbClr val="5E6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23042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5E6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B0F19"/>
                </a:solidFill>
              </a:defRPr>
            </a:pPr>
            <a:r>
              <a:t>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359152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Quality &amp; Interoperability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926079"/>
            <a:ext cx="3017520" cy="3017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Automated unit &amp; integration test suite (xUnit)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Encrypted vault import / export (JSON / CSV)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Self-hosted Chart.js assets for offline operation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Automated SBOM and dependency vulnerability scanning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103120"/>
            <a:ext cx="3474720" cy="3931920"/>
          </a:xfrm>
          <a:prstGeom prst="roundRect">
            <a:avLst>
              <a:gd name="adj" fmla="val 8000"/>
            </a:avLst>
          </a:prstGeom>
          <a:solidFill>
            <a:srgbClr val="1A2333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83880" y="2103120"/>
            <a:ext cx="3200400" cy="36576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75320" y="23042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B0F19"/>
                </a:solidFill>
              </a:defRPr>
            </a:pPr>
            <a:r>
              <a:t>⚙️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2359152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Operations &amp; DevOps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926079"/>
            <a:ext cx="3017520" cy="3017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Paid hosting migration (no app sleep, auto SSL)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CI/CD deployment pipelines via GitHub Actions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Automated database and key ring backup jobs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· Centralized structured logging (Serilog + Seq)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6437376"/>
            <a:ext cx="11185855" cy="18288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483096"/>
            <a:ext cx="96012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Full Stack Web Development Project using ASP.NET Core (DSC-M-BCA-471P)  |  Student: Kaswan Yogesh Subhashchandra (Roll: 32)  |  Guide: Prof. Sejal Shah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6483096"/>
            <a:ext cx="1627632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950" b="1">
                <a:solidFill>
                  <a:srgbClr val="8B95F6"/>
                </a:solidFill>
                <a:latin typeface="Segoe UI"/>
              </a:defRPr>
            </a:pPr>
            <a:r>
              <a:t>Slide 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02920"/>
            <a:ext cx="11185855" cy="5669280"/>
          </a:xfrm>
          <a:prstGeom prst="roundRect">
            <a:avLst>
              <a:gd name="adj" fmla="val 4000"/>
            </a:avLst>
          </a:prstGeom>
          <a:solidFill>
            <a:srgbClr val="1A2333"/>
          </a:solidFill>
          <a:ln w="222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804672"/>
            <a:ext cx="5943600" cy="384048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222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850392"/>
            <a:ext cx="585216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DSC-M-BCA-471P  •  ALL 4 PHASES SUCCESSFULLY COMPLETED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53312"/>
            <a:ext cx="105156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Segoe UI"/>
              </a:defRPr>
            </a:pPr>
            <a:r>
              <a:t>Thank You! 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29968"/>
            <a:ext cx="10515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50" b="1">
                <a:solidFill>
                  <a:srgbClr val="10B981"/>
                </a:solidFill>
                <a:latin typeface="Segoe UI"/>
              </a:defRPr>
            </a:pPr>
            <a:r>
              <a:t>Live Production Build: https://ciphervault.tryasp.net   |   Source Code: https://github.com/yogeshkaswan377-dev/CipherVault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51760"/>
            <a:ext cx="2487168" cy="1298448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2225">
            <a:solidFill>
              <a:srgbClr val="5E6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743200"/>
            <a:ext cx="2340864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50" b="1">
                <a:solidFill>
                  <a:srgbClr val="5E6AD2"/>
                </a:solidFill>
                <a:latin typeface="Segoe UI"/>
              </a:defRPr>
            </a:pPr>
            <a:r>
              <a:t>PHASE 1 • MVC &amp;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108960"/>
            <a:ext cx="2340864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00" b="0">
                <a:solidFill>
                  <a:srgbClr val="F8FAFC"/>
                </a:solidFill>
                <a:latin typeface="Segoe UI"/>
              </a:defRPr>
            </a:pPr>
            <a:r>
              <a:t>ASP.NET Core 10 MVC</a:t>
            </a:r>
            <a:br/>
            <a:r>
              <a:t>Bootstrap 5 Responsive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3008" y="2651760"/>
            <a:ext cx="2487168" cy="1298448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2225">
            <a:solidFill>
              <a:srgbClr val="8B95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743200"/>
            <a:ext cx="2340864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50" b="1">
                <a:solidFill>
                  <a:srgbClr val="8B95F6"/>
                </a:solidFill>
                <a:latin typeface="Segoe UI"/>
              </a:defRPr>
            </a:pPr>
            <a:r>
              <a:t>PHASE 2 • FORMS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108960"/>
            <a:ext cx="2340864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00" b="0">
                <a:solidFill>
                  <a:srgbClr val="F8FAFC"/>
                </a:solidFill>
                <a:latin typeface="Segoe UI"/>
              </a:defRPr>
            </a:pPr>
            <a:r>
              <a:t>DTO Separation</a:t>
            </a:r>
            <a:br/>
            <a:r>
              <a:t>Crypto-Secure Generator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2651760"/>
            <a:ext cx="2487168" cy="1298448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22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8" y="2743200"/>
            <a:ext cx="2340864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50" b="1">
                <a:solidFill>
                  <a:srgbClr val="10B981"/>
                </a:solidFill>
                <a:latin typeface="Segoe UI"/>
              </a:defRPr>
            </a:pPr>
            <a:r>
              <a:t>PHASE 3 • CRUD &amp; 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3108960"/>
            <a:ext cx="2340864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00" b="0">
                <a:solidFill>
                  <a:srgbClr val="F8FAFC"/>
                </a:solidFill>
                <a:latin typeface="Segoe UI"/>
              </a:defRPr>
            </a:pPr>
            <a:r>
              <a:t>EF Core 10 + AES Data Protection</a:t>
            </a:r>
            <a:br/>
            <a:r>
              <a:t>IDOR-Safe 404 Guard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33104" y="2651760"/>
            <a:ext cx="2487168" cy="1298448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222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06256" y="2743200"/>
            <a:ext cx="2340864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50" b="1">
                <a:solidFill>
                  <a:srgbClr val="06B6D4"/>
                </a:solidFill>
                <a:latin typeface="Segoe UI"/>
              </a:defRPr>
            </a:pPr>
            <a:r>
              <a:t>PHASE 4 • API &amp; LIVE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06256" y="3108960"/>
            <a:ext cx="2340864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00" b="0">
                <a:solidFill>
                  <a:srgbClr val="F8FAFC"/>
                </a:solidFill>
                <a:latin typeface="Segoe UI"/>
              </a:defRPr>
            </a:pPr>
            <a:r>
              <a:t>REST API + JWT Bearer</a:t>
            </a:r>
            <a:br/>
            <a:r>
              <a:t>Deployed on MonsterASP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133087"/>
            <a:ext cx="10561320" cy="17830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22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343400"/>
            <a:ext cx="10241280" cy="1371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150" b="1">
                <a:solidFill>
                  <a:srgbClr val="8B95F6"/>
                </a:solidFill>
                <a:latin typeface="Segoe UI"/>
              </a:defRPr>
            </a:pPr>
            <a:r>
              <a:t>✔ Phase 1, 2, 3 &amp; 4 Implementation Reports Complete     |     ✔ Live HTTPS Deployment Verified     |     ✔ Postman Collection &amp; Docs Ready</a:t>
            </a:r>
            <a:br/>
            <a:br/>
            <a:r>
              <a:t>Student Name: Kaswan Yogesh Subhashchandra (Roll No: 32)     •     Project Guide: Prof. Sejal Shah</a:t>
            </a:r>
            <a:br/>
            <a:r>
              <a:t>Course Title: Full Stack Web Development Project using ASP.NET Core (DSC-M-BCA-471P)     •     Institution: Lokmanya College of Computer Application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6437376"/>
            <a:ext cx="11185855" cy="18288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483096"/>
            <a:ext cx="96012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Full Stack Web Development Project using ASP.NET Core (DSC-M-BCA-471P)  |  Student: Kaswan Yogesh Subhashchandra (Roll: 32)  |  Guide: Prof. Sejal Shah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6483096"/>
            <a:ext cx="1627632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950" b="1">
                <a:solidFill>
                  <a:srgbClr val="8B95F6"/>
                </a:solidFill>
                <a:latin typeface="Segoe UI"/>
              </a:defRPr>
            </a:pPr>
            <a:r>
              <a:t>Slide 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